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1" r:id="rId44"/>
    <p:sldId id="297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30418-25E0-4D00-8511-C8A8858A1854}" v="50" dt="2026-02-09T08:15:5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161E-18F1-C7A9-F3A8-C9896697A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C6001-57C1-77E2-4003-EC2420782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9E3FB-033B-573E-7E58-577A488E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78418-1062-B660-1F9F-D753A7B4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7B3AC-3927-4201-97E5-88C8037E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4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7910-38EE-6B70-742A-A949C0E9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1E92E-50F9-36DE-8DE6-EE5707EC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3DF6F-C600-191A-7D7E-58A2BE30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C8BC6-D3A7-093D-159D-CC12EBC1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11C5-43AF-8A3A-2BFF-A93A8873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15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1BBB-C747-8035-85E4-E781C81D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BCF07-BD8B-09D9-D823-304A6D71B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1E758-7438-C121-E3E1-0B4F3380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A7C5B-79E1-4C05-2A18-E0A18FB6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2673-896B-0BC6-6351-E2C2C142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0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0691-A520-C463-17CF-5EC6605A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014C-D6CF-C39B-6637-D7CFB57D2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349F3-8532-C560-31F7-E65AB8D29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70CFE-7937-901C-B169-F51BC452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05B03-BAC1-3585-A280-7F3754FE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37443-EA56-B640-F193-9151C684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15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885A-16CA-12AC-A036-D64DCCC2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89B86-1D23-C120-702C-D47A23B1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61187-85F6-3837-1029-B1C2B8A83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EF2A5-61F0-14E6-34E9-A23D2E67D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94B0F-AA1E-7D83-AE99-4C35F9D0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74856-1845-F7FF-402C-7A8F030E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118B9-6C7E-612D-9CF7-83844C54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72D4B-BE6B-71FB-E09C-B70A28AA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8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BFB4-9C31-456A-46F8-78443061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2E656-7E05-F9DD-6992-DFD8D1BA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68A2B-5D90-EFDC-70CE-0745E3DD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5780-F85A-9B71-45A8-A0F55230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78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BC2CE-EEFC-F529-BF6D-40B44E33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804F1-1EF6-9F80-0BBC-707E98BF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82A17-A86F-9D73-D421-09BCFE89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45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9F1B-19F6-AF55-810D-5FC47BA1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4E64-B6B1-383E-1848-F07F1569D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091EC-0FCA-594B-486D-2302CCBBF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B0A24-60C5-F2C2-5935-4CB1B4D0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CD-4BB8-B517-576C-79A4103B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6D193-3BBA-29F2-F0EA-8177C2C7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4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3336-E5BE-D084-75A9-6EFD1BD8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4CF18-6168-45B7-9F9C-5E3645665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C5C8C-2A85-3064-4988-3737EAB28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DB5A-3D59-DF2C-167B-9EEBC624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FC67D-7B92-EEBE-ADD8-DB4F3FB7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72F16-B5E4-5800-280F-51E18F11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88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8DF-D3B6-952C-FF96-F0C1FBDB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D1490-5FA9-F553-D380-6748AD01B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BE28-3234-F419-2DD9-9C59C3CC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17191-B7FA-9E7B-990B-179C6215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6E9B6-77BE-979A-797D-BB24EEC8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17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D5DAD-F618-A5AA-733A-E4BBE0728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D6551-DCD8-0561-425E-B7D7F60EC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26047-D26A-1DC2-EE04-9BC30B0A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D4341-CBF1-104E-4A75-21AD6BB8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DA9EE-0C85-2799-EB49-D1310F60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4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C238F-EA53-FE40-F14B-3A591AB99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44FAE-F72C-7792-3613-8A62B70E1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04C47-4158-F559-A52F-6AF013E7F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FDC81-01C6-4396-90AC-C4792748B09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391A9-6581-7F1C-F40E-02DC28E88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35D7-8343-BF0D-50F6-E627A74FD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011FE-880E-4869-B3E5-F403334D9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51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62C9-E58C-860D-A4BC-57E95A786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English Tenses- Part 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D4D27-6886-BFCD-900D-FB1199E8E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55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D08B-5DB2-60BD-B120-763BF91D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DB08-F904-3AF7-25A3-4F7BF10F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Past Continuous Tense</a:t>
            </a:r>
            <a:r>
              <a:rPr lang="en-US" dirty="0"/>
              <a:t> is used to describe:</a:t>
            </a:r>
          </a:p>
          <a:p>
            <a:r>
              <a:rPr lang="en-US" dirty="0"/>
              <a:t>an action </a:t>
            </a:r>
            <a:r>
              <a:rPr lang="en-US" b="1" dirty="0"/>
              <a:t>going on at a particular time in the past</a:t>
            </a:r>
            <a:endParaRPr lang="en-US" dirty="0"/>
          </a:p>
          <a:p>
            <a:r>
              <a:rPr lang="en-US" b="1" dirty="0"/>
              <a:t>two actions happening simultaneously</a:t>
            </a:r>
            <a:r>
              <a:rPr lang="en-US" dirty="0"/>
              <a:t> in the past</a:t>
            </a:r>
          </a:p>
          <a:p>
            <a:r>
              <a:rPr lang="en-US" dirty="0"/>
              <a:t>a </a:t>
            </a:r>
            <a:r>
              <a:rPr lang="en-US" b="1" dirty="0"/>
              <a:t>background action</a:t>
            </a:r>
            <a:r>
              <a:rPr lang="en-US" dirty="0"/>
              <a:t> interrupted by another action</a:t>
            </a:r>
          </a:p>
          <a:p>
            <a:r>
              <a:rPr lang="en-US" dirty="0"/>
              <a:t>temporary past activities</a:t>
            </a:r>
          </a:p>
          <a:p>
            <a:r>
              <a:rPr lang="en-US" dirty="0"/>
              <a:t> Key idea: </a:t>
            </a:r>
            <a:r>
              <a:rPr lang="en-US" b="1" dirty="0"/>
              <a:t>Action was in progress in the past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567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4CBF-4BA6-2477-0016-D4283E00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5F19-50CF-B97B-F49B-B44204E7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09AC-A157-987F-4ACE-1D6F2EBD3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Structure (Sentence Formation)</a:t>
            </a:r>
          </a:p>
          <a:p>
            <a:r>
              <a:rPr lang="en-US" b="1" dirty="0"/>
              <a:t> Affirmative (Positive)</a:t>
            </a:r>
          </a:p>
          <a:p>
            <a:r>
              <a:rPr lang="en-US" b="1" dirty="0"/>
              <a:t>Subject + was / were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was teaching</a:t>
            </a:r>
            <a:r>
              <a:rPr lang="en-US" dirty="0"/>
              <a:t> Operating Systems.</a:t>
            </a:r>
          </a:p>
          <a:p>
            <a:r>
              <a:rPr lang="en-US" dirty="0"/>
              <a:t>She </a:t>
            </a:r>
            <a:r>
              <a:rPr lang="en-US" b="1" dirty="0"/>
              <a:t>was writing</a:t>
            </a:r>
            <a:r>
              <a:rPr lang="en-US" dirty="0"/>
              <a:t> the SRS document.</a:t>
            </a:r>
          </a:p>
          <a:p>
            <a:r>
              <a:rPr lang="en-US" dirty="0"/>
              <a:t>They </a:t>
            </a:r>
            <a:r>
              <a:rPr lang="en-US" b="1" dirty="0"/>
              <a:t>were preparing</a:t>
            </a:r>
            <a:r>
              <a:rPr lang="en-US" dirty="0"/>
              <a:t> for the exam.</a:t>
            </a:r>
          </a:p>
          <a:p>
            <a:r>
              <a:rPr lang="en-US" dirty="0"/>
              <a:t>Students </a:t>
            </a:r>
            <a:r>
              <a:rPr lang="en-US" b="1" dirty="0"/>
              <a:t>were drawing</a:t>
            </a:r>
            <a:r>
              <a:rPr lang="en-US" dirty="0"/>
              <a:t> UML diagrams.</a:t>
            </a:r>
          </a:p>
          <a:p>
            <a:r>
              <a:rPr lang="en-US" dirty="0"/>
              <a:t>Rule:</a:t>
            </a:r>
          </a:p>
          <a:p>
            <a:r>
              <a:rPr lang="en-US" b="1" dirty="0"/>
              <a:t>was</a:t>
            </a:r>
            <a:r>
              <a:rPr lang="en-US" dirty="0"/>
              <a:t> → I / he / she / it</a:t>
            </a:r>
          </a:p>
          <a:p>
            <a:r>
              <a:rPr lang="en-US" b="1" dirty="0"/>
              <a:t>were</a:t>
            </a:r>
            <a:r>
              <a:rPr lang="en-US" dirty="0"/>
              <a:t> → you / we / they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90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D5FF-2035-A024-067B-76C07734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F309-F3B4-0225-1AD8-6920C30C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86AD8-FEB9-154D-3AEC-5051AE68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</a:t>
            </a:r>
          </a:p>
          <a:p>
            <a:r>
              <a:rPr lang="en-US" b="1" dirty="0"/>
              <a:t>Subject + was / were + not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was not using</a:t>
            </a:r>
            <a:r>
              <a:rPr lang="en-US" dirty="0"/>
              <a:t> pointers.</a:t>
            </a:r>
          </a:p>
          <a:p>
            <a:r>
              <a:rPr lang="en-US" dirty="0"/>
              <a:t>He </a:t>
            </a:r>
            <a:r>
              <a:rPr lang="en-US" b="1" dirty="0"/>
              <a:t>was not attending</a:t>
            </a:r>
            <a:r>
              <a:rPr lang="en-US" dirty="0"/>
              <a:t> the lecture.</a:t>
            </a:r>
          </a:p>
          <a:p>
            <a:r>
              <a:rPr lang="en-US" dirty="0"/>
              <a:t>We </a:t>
            </a:r>
            <a:r>
              <a:rPr lang="en-US" b="1" dirty="0"/>
              <a:t>were not working</a:t>
            </a:r>
            <a:r>
              <a:rPr lang="en-US" dirty="0"/>
              <a:t> in the lab.</a:t>
            </a:r>
          </a:p>
          <a:p>
            <a:r>
              <a:rPr lang="en-US" dirty="0"/>
              <a:t>She </a:t>
            </a:r>
            <a:r>
              <a:rPr lang="en-US" b="1" dirty="0"/>
              <a:t>was not explaining</a:t>
            </a:r>
            <a:r>
              <a:rPr lang="en-US" dirty="0"/>
              <a:t> Agile.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26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2E6D-774F-85E5-F0C3-98D55569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9EEC-B30A-23F5-BF1A-9C7B21F2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5B89-4CCF-1CC9-748F-3F6EA5C54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Interrogative (Question)</a:t>
            </a:r>
          </a:p>
          <a:p>
            <a:r>
              <a:rPr lang="en-US" b="1" dirty="0"/>
              <a:t>Was / Were + subject + verb + </a:t>
            </a:r>
            <a:r>
              <a:rPr lang="en-US" b="1" dirty="0" err="1"/>
              <a:t>ing</a:t>
            </a:r>
            <a:r>
              <a:rPr lang="en-US" b="1" dirty="0"/>
              <a:t>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Was</a:t>
            </a:r>
            <a:r>
              <a:rPr lang="en-US" dirty="0"/>
              <a:t> she </a:t>
            </a:r>
            <a:r>
              <a:rPr lang="en-US" b="1" dirty="0"/>
              <a:t>preparing</a:t>
            </a:r>
            <a:r>
              <a:rPr lang="en-US" dirty="0"/>
              <a:t> the PPT?</a:t>
            </a:r>
          </a:p>
          <a:p>
            <a:r>
              <a:rPr lang="en-US" b="1" dirty="0"/>
              <a:t>Were</a:t>
            </a:r>
            <a:r>
              <a:rPr lang="en-US" dirty="0"/>
              <a:t> they </a:t>
            </a:r>
            <a:r>
              <a:rPr lang="en-US" b="1" dirty="0"/>
              <a:t>conducting</a:t>
            </a:r>
            <a:r>
              <a:rPr lang="en-US" dirty="0"/>
              <a:t> the seminar?</a:t>
            </a:r>
          </a:p>
          <a:p>
            <a:r>
              <a:rPr lang="en-US" b="1" dirty="0"/>
              <a:t>Was</a:t>
            </a:r>
            <a:r>
              <a:rPr lang="en-US" dirty="0"/>
              <a:t> he </a:t>
            </a:r>
            <a:r>
              <a:rPr lang="en-US" b="1" dirty="0"/>
              <a:t>listening</a:t>
            </a:r>
            <a:r>
              <a:rPr lang="en-US" dirty="0"/>
              <a:t> carefully?</a:t>
            </a:r>
          </a:p>
          <a:p>
            <a:r>
              <a:rPr lang="en-US" b="1" dirty="0"/>
              <a:t>Were</a:t>
            </a:r>
            <a:r>
              <a:rPr lang="en-US" dirty="0"/>
              <a:t> you </a:t>
            </a:r>
            <a:r>
              <a:rPr lang="en-US" b="1" dirty="0"/>
              <a:t>solving</a:t>
            </a:r>
            <a:r>
              <a:rPr lang="en-US" dirty="0"/>
              <a:t> the problem?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551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D268-7A96-D569-457F-4EFA2845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EB19-9F41-9DE5-0EE9-4D43AEC7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F3AEE-07A6-17D0-0510-F9853188F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Wh</a:t>
            </a:r>
            <a:r>
              <a:rPr lang="en-US" b="1" dirty="0"/>
              <a:t>-Questions</a:t>
            </a:r>
          </a:p>
          <a:p>
            <a:r>
              <a:rPr lang="en-US" b="1" dirty="0"/>
              <a:t>Wh-word + was / were + subject + verb + </a:t>
            </a:r>
            <a:r>
              <a:rPr lang="en-US" b="1" dirty="0" err="1"/>
              <a:t>ing</a:t>
            </a:r>
            <a:r>
              <a:rPr lang="en-US" b="1" dirty="0"/>
              <a:t>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What</a:t>
            </a:r>
            <a:r>
              <a:rPr lang="en-US" dirty="0"/>
              <a:t> were you </a:t>
            </a:r>
            <a:r>
              <a:rPr lang="en-US" b="1" dirty="0"/>
              <a:t>doing</a:t>
            </a:r>
            <a:r>
              <a:rPr lang="en-US" dirty="0"/>
              <a:t> at 10 am?</a:t>
            </a:r>
          </a:p>
          <a:p>
            <a:r>
              <a:rPr lang="en-US" b="1" dirty="0"/>
              <a:t>Why</a:t>
            </a:r>
            <a:r>
              <a:rPr lang="en-US" dirty="0"/>
              <a:t> was she </a:t>
            </a:r>
            <a:r>
              <a:rPr lang="en-US" b="1" dirty="0"/>
              <a:t>absent</a:t>
            </a:r>
            <a:r>
              <a:rPr lang="en-US" dirty="0"/>
              <a:t> yesterday?</a:t>
            </a:r>
          </a:p>
          <a:p>
            <a:r>
              <a:rPr lang="en-US" b="1" dirty="0"/>
              <a:t>Where</a:t>
            </a:r>
            <a:r>
              <a:rPr lang="en-US" dirty="0"/>
              <a:t> were they </a:t>
            </a:r>
            <a:r>
              <a:rPr lang="en-US" b="1" dirty="0"/>
              <a:t>working</a:t>
            </a:r>
            <a:r>
              <a:rPr lang="en-US" dirty="0"/>
              <a:t>?</a:t>
            </a:r>
          </a:p>
          <a:p>
            <a:r>
              <a:rPr lang="en-US" b="1" dirty="0"/>
              <a:t>How</a:t>
            </a:r>
            <a:r>
              <a:rPr lang="en-US" dirty="0"/>
              <a:t> was he </a:t>
            </a:r>
            <a:r>
              <a:rPr lang="en-US" b="1" dirty="0"/>
              <a:t>debugging</a:t>
            </a:r>
            <a:r>
              <a:rPr lang="en-US" dirty="0"/>
              <a:t> the code?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23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D40F-C8EF-A8DC-43BB-8DB4B53C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E0E0-259A-CAA3-19FC-8C329FD7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489CD1-E183-E438-EBFD-A62B98D5B3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49734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697398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8511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07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 in progress at past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was studying at 9 pm.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19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Interrupted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She was teaching when the bell rang.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23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Students were writing while the teacher was explaining.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3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Temporary past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 was staying in Pune last year.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195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50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7885-3457-F571-78FB-57126325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4AA9-6797-22E7-909C-7DDF39A8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C630-88B6-490A-91CA-E7AA7BDF1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Time Expressions Commonly Used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when</a:t>
            </a:r>
          </a:p>
          <a:p>
            <a:r>
              <a:rPr lang="en-US" dirty="0"/>
              <a:t>at that time</a:t>
            </a:r>
          </a:p>
          <a:p>
            <a:r>
              <a:rPr lang="en-US" dirty="0"/>
              <a:t>at 8 pm yesterday</a:t>
            </a:r>
          </a:p>
          <a:p>
            <a:r>
              <a:rPr lang="en-US" dirty="0"/>
              <a:t>all day yesterday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We were discussing the project </a:t>
            </a:r>
            <a:r>
              <a:rPr lang="en-US" b="1" dirty="0"/>
              <a:t>when</a:t>
            </a:r>
            <a:r>
              <a:rPr lang="en-US" dirty="0"/>
              <a:t> the HOD entered.</a:t>
            </a:r>
          </a:p>
          <a:p>
            <a:r>
              <a:rPr lang="en-US" b="1" dirty="0"/>
              <a:t>While</a:t>
            </a:r>
            <a:r>
              <a:rPr lang="en-US" dirty="0"/>
              <a:t> I was reading, she was taking notes.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69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018A-DDED-E2B4-5F05-60E42D36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8ED6-1C9E-B002-1B01-8BD96C8F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782C0-3F9D-CF3D-7E41-DB1686FDA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Spelling Rules for </a:t>
            </a:r>
            <a:r>
              <a:rPr lang="en-IN" b="1" dirty="0"/>
              <a:t>-</a:t>
            </a:r>
            <a:r>
              <a:rPr lang="en-IN" b="1" dirty="0" err="1"/>
              <a:t>ing</a:t>
            </a:r>
            <a:r>
              <a:rPr lang="en-IN" dirty="0"/>
              <a:t> Form (Quick Revision)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6E30A3-C22A-49BD-7E6A-3E9D5CD2B88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782318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11757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022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</a:t>
                      </a:r>
                      <a:r>
                        <a:rPr lang="en-IN" b="1"/>
                        <a:t>-ing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→ working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70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 final </a:t>
                      </a:r>
                      <a:r>
                        <a:rPr lang="en-IN" b="1"/>
                        <a:t>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→ 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97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 consonant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→ 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775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 → y + 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lie → lying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93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35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0157-9013-5E0D-64AE-4F52A465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E0FE-01A2-5B14-652E-A897E975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AA2B-91EC-6EA7-3371-8526CD5D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Past Continuous vs Past Indefinite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086D49-66D9-B717-2CBE-BC65BC3F256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161083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04069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Indefinite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73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 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Completed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67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was teaching at 10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taught at 10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93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Background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664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771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64AC-3375-1CB5-69F6-64F73F0C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D341-B42D-E8DD-09EA-08127397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Continuous Tense (Past Progressive)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387A0-3A1F-0901-F96C-AB4468B63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Mistakes ❌</a:t>
            </a:r>
          </a:p>
          <a:p>
            <a:r>
              <a:rPr lang="en-US" dirty="0"/>
              <a:t>❌ She </a:t>
            </a:r>
            <a:r>
              <a:rPr lang="en-US" b="1" dirty="0"/>
              <a:t>was write</a:t>
            </a:r>
            <a:r>
              <a:rPr lang="en-US" dirty="0"/>
              <a:t> notes.</a:t>
            </a:r>
            <a:br>
              <a:rPr lang="en-US" dirty="0"/>
            </a:br>
            <a:r>
              <a:rPr lang="en-US" dirty="0"/>
              <a:t>✅ She </a:t>
            </a:r>
            <a:r>
              <a:rPr lang="en-US" b="1" dirty="0"/>
              <a:t>was writing</a:t>
            </a:r>
            <a:r>
              <a:rPr lang="en-US" dirty="0"/>
              <a:t> notes.</a:t>
            </a:r>
          </a:p>
          <a:p>
            <a:r>
              <a:rPr lang="en-US" dirty="0"/>
              <a:t>❌ When he came, I </a:t>
            </a:r>
            <a:r>
              <a:rPr lang="en-US" b="1" dirty="0"/>
              <a:t>studied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When he came, I </a:t>
            </a:r>
            <a:r>
              <a:rPr lang="en-US" b="1" dirty="0"/>
              <a:t>was studying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23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D266C-739C-36B5-5C6A-119BB7C4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DAE5-A4EC-9C04-E7B5-208A4159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79CB-70C6-9FBC-41DA-AFDE62724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Past Perfect Tense</a:t>
            </a:r>
            <a:r>
              <a:rPr lang="en-US" dirty="0"/>
              <a:t> is used to describe:</a:t>
            </a:r>
          </a:p>
          <a:p>
            <a:r>
              <a:rPr lang="en-US" dirty="0"/>
              <a:t>an action </a:t>
            </a:r>
            <a:r>
              <a:rPr lang="en-US" b="1" dirty="0"/>
              <a:t>completed before another action in the past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earlier of two past actions</a:t>
            </a:r>
            <a:endParaRPr lang="en-US" dirty="0"/>
          </a:p>
          <a:p>
            <a:r>
              <a:rPr lang="en-US" dirty="0"/>
              <a:t>actions showing </a:t>
            </a:r>
            <a:r>
              <a:rPr lang="en-US" b="1" dirty="0"/>
              <a:t>cause–effect in the past</a:t>
            </a:r>
            <a:endParaRPr lang="en-US" dirty="0"/>
          </a:p>
          <a:p>
            <a:r>
              <a:rPr lang="en-US" dirty="0"/>
              <a:t>reported speech and conditional sentences (basic level)</a:t>
            </a:r>
          </a:p>
          <a:p>
            <a:r>
              <a:rPr lang="en-US" dirty="0"/>
              <a:t>Key idea: </a:t>
            </a:r>
            <a:r>
              <a:rPr lang="en-US" b="1" dirty="0"/>
              <a:t>Past of the past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59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558A-1FD7-4A91-0767-443A046D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E839-5F0E-CA44-27CA-96A371A6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8409-B710-5EE5-CD40-9054C4CB5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Structure (Sentence Formation)</a:t>
            </a:r>
          </a:p>
          <a:p>
            <a:r>
              <a:rPr lang="en-US" b="1" dirty="0"/>
              <a:t>Affirmative (Positive)</a:t>
            </a:r>
          </a:p>
          <a:p>
            <a:r>
              <a:rPr lang="en-US" b="1" dirty="0"/>
              <a:t>Subject + had + past participle (V³)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had completed</a:t>
            </a:r>
            <a:r>
              <a:rPr lang="en-US" dirty="0"/>
              <a:t> the syllabus before the exam started.</a:t>
            </a:r>
          </a:p>
          <a:p>
            <a:r>
              <a:rPr lang="en-US" dirty="0"/>
              <a:t>She </a:t>
            </a:r>
            <a:r>
              <a:rPr lang="en-US" b="1" dirty="0"/>
              <a:t>had prepared</a:t>
            </a:r>
            <a:r>
              <a:rPr lang="en-US" dirty="0"/>
              <a:t> the PPT earlier.</a:t>
            </a:r>
          </a:p>
          <a:p>
            <a:r>
              <a:rPr lang="en-US" dirty="0"/>
              <a:t>They </a:t>
            </a:r>
            <a:r>
              <a:rPr lang="en-US" b="1" dirty="0"/>
              <a:t>had submitted</a:t>
            </a:r>
            <a:r>
              <a:rPr lang="en-US" dirty="0"/>
              <a:t> the project on time.</a:t>
            </a:r>
          </a:p>
          <a:p>
            <a:r>
              <a:rPr lang="en-US" dirty="0"/>
              <a:t>He </a:t>
            </a:r>
            <a:r>
              <a:rPr lang="en-US" b="1" dirty="0"/>
              <a:t>had left</a:t>
            </a:r>
            <a:r>
              <a:rPr lang="en-US" dirty="0"/>
              <a:t> before the meeting began.</a:t>
            </a:r>
          </a:p>
          <a:p>
            <a:r>
              <a:rPr lang="en-US" dirty="0"/>
              <a:t>Rule:</a:t>
            </a:r>
            <a:br>
              <a:rPr lang="en-US" dirty="0"/>
            </a:br>
            <a:r>
              <a:rPr lang="en-US" b="1" dirty="0"/>
              <a:t>had</a:t>
            </a:r>
            <a:r>
              <a:rPr lang="en-US" dirty="0"/>
              <a:t> is used for </a:t>
            </a:r>
            <a:r>
              <a:rPr lang="en-US" b="1" dirty="0"/>
              <a:t>all subjects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5C8F4-9464-010E-B5D6-7D9AB286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E712-DD07-D379-8E4D-F952C6C8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E1BF-ED53-89D7-4488-77723F962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</a:t>
            </a:r>
          </a:p>
          <a:p>
            <a:r>
              <a:rPr lang="en-US" b="1" dirty="0"/>
              <a:t>Subject + had + not + past participle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had not checked</a:t>
            </a:r>
            <a:r>
              <a:rPr lang="en-US" dirty="0"/>
              <a:t> the answer sheets.</a:t>
            </a:r>
          </a:p>
          <a:p>
            <a:r>
              <a:rPr lang="en-US" dirty="0"/>
              <a:t>She </a:t>
            </a:r>
            <a:r>
              <a:rPr lang="en-US" b="1" dirty="0"/>
              <a:t>had not finished</a:t>
            </a:r>
            <a:r>
              <a:rPr lang="en-US" dirty="0"/>
              <a:t> the report.</a:t>
            </a:r>
          </a:p>
          <a:p>
            <a:r>
              <a:rPr lang="en-US" dirty="0"/>
              <a:t>They </a:t>
            </a:r>
            <a:r>
              <a:rPr lang="en-US" b="1" dirty="0"/>
              <a:t>had not informed</a:t>
            </a:r>
            <a:r>
              <a:rPr lang="en-US" dirty="0"/>
              <a:t> the students.</a:t>
            </a:r>
          </a:p>
          <a:p>
            <a:r>
              <a:rPr lang="en-US" dirty="0"/>
              <a:t>He </a:t>
            </a:r>
            <a:r>
              <a:rPr lang="en-US" b="1" dirty="0"/>
              <a:t>had not understood</a:t>
            </a:r>
            <a:r>
              <a:rPr lang="en-US" dirty="0"/>
              <a:t> Agile earlier.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20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77DF-9CCB-D0EB-76A0-F958491E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EBC7-F1F7-0C8B-1EE5-1B7FCE1D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E94D5-B00D-20A3-DFAA-8E830704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Interrogative (Question)</a:t>
            </a:r>
          </a:p>
          <a:p>
            <a:r>
              <a:rPr lang="en-US" b="1" dirty="0"/>
              <a:t>Had + subject + past participle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Had</a:t>
            </a:r>
            <a:r>
              <a:rPr lang="en-US" dirty="0"/>
              <a:t> you </a:t>
            </a:r>
            <a:r>
              <a:rPr lang="en-US" b="1" dirty="0"/>
              <a:t>completed</a:t>
            </a:r>
            <a:r>
              <a:rPr lang="en-US" dirty="0"/>
              <a:t> the experiment before submission?</a:t>
            </a:r>
          </a:p>
          <a:p>
            <a:r>
              <a:rPr lang="en-US" b="1" dirty="0"/>
              <a:t>Had</a:t>
            </a:r>
            <a:r>
              <a:rPr lang="en-US" dirty="0"/>
              <a:t> she </a:t>
            </a:r>
            <a:r>
              <a:rPr lang="en-US" b="1" dirty="0"/>
              <a:t>prepared</a:t>
            </a:r>
            <a:r>
              <a:rPr lang="en-US" dirty="0"/>
              <a:t> the SRS?</a:t>
            </a:r>
          </a:p>
          <a:p>
            <a:r>
              <a:rPr lang="en-US" b="1" dirty="0"/>
              <a:t>Had</a:t>
            </a:r>
            <a:r>
              <a:rPr lang="en-US" dirty="0"/>
              <a:t> they </a:t>
            </a:r>
            <a:r>
              <a:rPr lang="en-US" b="1" dirty="0"/>
              <a:t>conducted</a:t>
            </a:r>
            <a:r>
              <a:rPr lang="en-US" dirty="0"/>
              <a:t> the seminar earlier?</a:t>
            </a:r>
          </a:p>
          <a:p>
            <a:r>
              <a:rPr lang="en-US" b="1" dirty="0"/>
              <a:t>Had</a:t>
            </a:r>
            <a:r>
              <a:rPr lang="en-US" dirty="0"/>
              <a:t> he </a:t>
            </a:r>
            <a:r>
              <a:rPr lang="en-US" b="1" dirty="0"/>
              <a:t>joined</a:t>
            </a:r>
            <a:r>
              <a:rPr lang="en-US" dirty="0"/>
              <a:t> the course before lockdown?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02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7950-F301-D190-E06B-F10E68DA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3C6A-7B9A-DC6C-6DB0-31EC3DE5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7C68E-C31D-C2D5-D50F-875942830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Wh</a:t>
            </a:r>
            <a:r>
              <a:rPr lang="en-US" b="1" dirty="0"/>
              <a:t>-Questions</a:t>
            </a:r>
          </a:p>
          <a:p>
            <a:r>
              <a:rPr lang="en-US" b="1" dirty="0"/>
              <a:t>Wh-word + had + subject + past participle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Why</a:t>
            </a:r>
            <a:r>
              <a:rPr lang="en-US" dirty="0"/>
              <a:t> had she </a:t>
            </a:r>
            <a:r>
              <a:rPr lang="en-US" b="1" dirty="0"/>
              <a:t>missed</a:t>
            </a:r>
            <a:r>
              <a:rPr lang="en-US" dirty="0"/>
              <a:t> the lecture?</a:t>
            </a:r>
          </a:p>
          <a:p>
            <a:r>
              <a:rPr lang="en-US" b="1" dirty="0"/>
              <a:t>When</a:t>
            </a:r>
            <a:r>
              <a:rPr lang="en-US" dirty="0"/>
              <a:t> had they </a:t>
            </a:r>
            <a:r>
              <a:rPr lang="en-US" b="1" dirty="0"/>
              <a:t>started</a:t>
            </a:r>
            <a:r>
              <a:rPr lang="en-US" dirty="0"/>
              <a:t> the project?</a:t>
            </a:r>
          </a:p>
          <a:p>
            <a:r>
              <a:rPr lang="en-US" b="1" dirty="0"/>
              <a:t>How</a:t>
            </a:r>
            <a:r>
              <a:rPr lang="en-US" dirty="0"/>
              <a:t> had he </a:t>
            </a:r>
            <a:r>
              <a:rPr lang="en-US" b="1" dirty="0"/>
              <a:t>solved</a:t>
            </a:r>
            <a:r>
              <a:rPr lang="en-US" dirty="0"/>
              <a:t> the issue?</a:t>
            </a:r>
          </a:p>
          <a:p>
            <a:r>
              <a:rPr lang="en-US" b="1" dirty="0"/>
              <a:t>What</a:t>
            </a:r>
            <a:r>
              <a:rPr lang="en-US" dirty="0"/>
              <a:t> had you </a:t>
            </a:r>
            <a:r>
              <a:rPr lang="en-US" b="1" dirty="0"/>
              <a:t>learned</a:t>
            </a:r>
            <a:r>
              <a:rPr lang="en-US" dirty="0"/>
              <a:t> before the exam?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723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EE2F-4032-39B1-C18A-CE0CCFF2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2BC1-3458-9CC2-CFCA-146545F2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B43852-51EE-0BA0-8EB6-2B95A0C102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324528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31997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54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Earlier past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had finished my work before evening.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01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past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She had left when I reached home.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4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Cause–effect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 failed because he had not studied.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0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Reported 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 said that he had completed the task.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224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274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DA97-D6AF-9EBE-F4D4-746CB53C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87DA-3855-7F7B-5D6E-214E16DD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3611-4605-18D7-DC1A-AC41CF36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Common Time Expressions</a:t>
            </a:r>
          </a:p>
          <a:p>
            <a:r>
              <a:rPr lang="en-US" dirty="0"/>
              <a:t>before</a:t>
            </a:r>
          </a:p>
          <a:p>
            <a:r>
              <a:rPr lang="en-US" dirty="0"/>
              <a:t>after</a:t>
            </a:r>
          </a:p>
          <a:p>
            <a:r>
              <a:rPr lang="en-US" dirty="0"/>
              <a:t>when</a:t>
            </a:r>
          </a:p>
          <a:p>
            <a:r>
              <a:rPr lang="en-US" dirty="0"/>
              <a:t>already</a:t>
            </a:r>
          </a:p>
          <a:p>
            <a:r>
              <a:rPr lang="en-US" dirty="0"/>
              <a:t>by the time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The lecture had ended </a:t>
            </a:r>
            <a:r>
              <a:rPr lang="en-US" b="1" dirty="0"/>
              <a:t>before</a:t>
            </a:r>
            <a:r>
              <a:rPr lang="en-US" dirty="0"/>
              <a:t> students arrived.</a:t>
            </a:r>
          </a:p>
          <a:p>
            <a:r>
              <a:rPr lang="en-US" b="1" dirty="0"/>
              <a:t>By the time</a:t>
            </a:r>
            <a:r>
              <a:rPr lang="en-US" dirty="0"/>
              <a:t> we reached, the program had started.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98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D5EE-DA6B-3906-06D0-B672CA09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1B04-C2B5-C2C7-2E23-ADB1287F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E039-D27C-4DF2-CD60-DA05EEC0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Past Perfect vs Past Indefinite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 </a:t>
            </a:r>
            <a:r>
              <a:rPr lang="en-US" b="1" dirty="0"/>
              <a:t>had completed</a:t>
            </a:r>
            <a:r>
              <a:rPr lang="en-US" dirty="0"/>
              <a:t> the syllabus before the exam </a:t>
            </a:r>
            <a:r>
              <a:rPr lang="en-US" b="1" dirty="0"/>
              <a:t>started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BD12CA-0E9C-9F08-2184-F0F9724A30F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224790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4587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Perfect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Indefinite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322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Earlier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Later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8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had completed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submitted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836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of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99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93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E55E-8D29-E653-A037-BA35BCDF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4EF1-A9B3-30AA-2164-9B9586E2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E919-BC81-C25A-94D9-B4F89C2F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Past Perfect vs Present Perfect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5D2BC0-82AF-089F-D39A-05504DBEC21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675023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1657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Perfect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 Perfect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460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 point in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 point is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16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She had finished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She has finished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60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522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D432-4122-C0A9-7973-4C51B596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8C6B-EA6F-A641-2163-288FF0D9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Past Perfect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EB45-8819-7821-79BF-EE62BA96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Mistakes ❌</a:t>
            </a:r>
          </a:p>
          <a:p>
            <a:r>
              <a:rPr lang="en-US" dirty="0"/>
              <a:t>❌ She </a:t>
            </a:r>
            <a:r>
              <a:rPr lang="en-US" b="1" dirty="0"/>
              <a:t>had went</a:t>
            </a:r>
            <a:r>
              <a:rPr lang="en-US" dirty="0"/>
              <a:t> home.</a:t>
            </a:r>
            <a:br>
              <a:rPr lang="en-US" dirty="0"/>
            </a:br>
            <a:r>
              <a:rPr lang="en-US" dirty="0"/>
              <a:t>✅ She </a:t>
            </a:r>
            <a:r>
              <a:rPr lang="en-US" b="1" dirty="0"/>
              <a:t>had gone</a:t>
            </a:r>
            <a:r>
              <a:rPr lang="en-US" dirty="0"/>
              <a:t> home.</a:t>
            </a:r>
          </a:p>
          <a:p>
            <a:r>
              <a:rPr lang="en-US" dirty="0"/>
              <a:t>❌ After he </a:t>
            </a:r>
            <a:r>
              <a:rPr lang="en-US" b="1" dirty="0"/>
              <a:t>had reached</a:t>
            </a:r>
            <a:r>
              <a:rPr lang="en-US" dirty="0"/>
              <a:t>, the class started.</a:t>
            </a:r>
            <a:br>
              <a:rPr lang="en-US" dirty="0"/>
            </a:br>
            <a:r>
              <a:rPr lang="en-US" dirty="0"/>
              <a:t>✅ After he </a:t>
            </a:r>
            <a:r>
              <a:rPr lang="en-US" b="1" dirty="0"/>
              <a:t>reached</a:t>
            </a:r>
            <a:r>
              <a:rPr lang="en-US" dirty="0"/>
              <a:t>, the class started.</a:t>
            </a:r>
            <a:br>
              <a:rPr lang="en-US" dirty="0"/>
            </a:br>
            <a:r>
              <a:rPr lang="en-US" dirty="0"/>
              <a:t>(or)</a:t>
            </a:r>
            <a:br>
              <a:rPr lang="en-US" dirty="0"/>
            </a:br>
            <a:r>
              <a:rPr lang="en-US" dirty="0"/>
              <a:t>✅ After he </a:t>
            </a:r>
            <a:r>
              <a:rPr lang="en-US" b="1" dirty="0"/>
              <a:t>had reached</a:t>
            </a:r>
            <a:r>
              <a:rPr lang="en-US" dirty="0"/>
              <a:t>, the class had already started. </a:t>
            </a:r>
            <a:r>
              <a:rPr lang="en-US" i="1" dirty="0"/>
              <a:t>(context needed)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833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2063-2923-6E55-5B5E-CA460521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63D1-D45E-AE1E-BDB5-EB92BC81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Future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3FA0-9E5E-8B5E-483B-020C33C17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Simple Future Tense</a:t>
            </a:r>
            <a:r>
              <a:rPr lang="en-US" dirty="0"/>
              <a:t> is used to express:</a:t>
            </a:r>
          </a:p>
          <a:p>
            <a:r>
              <a:rPr lang="en-US" dirty="0"/>
              <a:t>actions that </a:t>
            </a:r>
            <a:r>
              <a:rPr lang="en-US" b="1" dirty="0"/>
              <a:t>will happen in the future</a:t>
            </a:r>
            <a:endParaRPr lang="en-US" dirty="0"/>
          </a:p>
          <a:p>
            <a:r>
              <a:rPr lang="en-US" b="1" dirty="0"/>
              <a:t>decisions made at the moment of speaking</a:t>
            </a:r>
            <a:endParaRPr lang="en-US" dirty="0"/>
          </a:p>
          <a:p>
            <a:r>
              <a:rPr lang="en-US" b="1" dirty="0"/>
              <a:t>promises, offers, predictions</a:t>
            </a:r>
            <a:endParaRPr lang="en-US" dirty="0"/>
          </a:p>
          <a:p>
            <a:r>
              <a:rPr lang="en-US" dirty="0"/>
              <a:t>future facts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431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A7D1-8697-8176-E45B-9D83E27F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0B58-B2C8-AF8E-AEF0-F61B7CEA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Future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2EDFB-B08F-F18A-A723-7E207A2D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</a:t>
            </a:r>
          </a:p>
          <a:p>
            <a:r>
              <a:rPr lang="en-US" b="1" dirty="0"/>
              <a:t>Subject + will not + base verb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will not attend</a:t>
            </a:r>
            <a:r>
              <a:rPr lang="en-US" dirty="0"/>
              <a:t> the meeting.</a:t>
            </a:r>
          </a:p>
          <a:p>
            <a:r>
              <a:rPr lang="en-US" dirty="0"/>
              <a:t>She </a:t>
            </a:r>
            <a:r>
              <a:rPr lang="en-US" b="1" dirty="0"/>
              <a:t>will not be</a:t>
            </a:r>
            <a:r>
              <a:rPr lang="en-US" dirty="0"/>
              <a:t> absent.</a:t>
            </a:r>
          </a:p>
          <a:p>
            <a:r>
              <a:rPr lang="en-US" dirty="0"/>
              <a:t>They </a:t>
            </a:r>
            <a:r>
              <a:rPr lang="en-US" b="1" dirty="0"/>
              <a:t>will not use</a:t>
            </a:r>
            <a:r>
              <a:rPr lang="en-US" dirty="0"/>
              <a:t> unfair means.</a:t>
            </a:r>
          </a:p>
        </p:txBody>
      </p:sp>
    </p:spTree>
    <p:extLst>
      <p:ext uri="{BB962C8B-B14F-4D97-AF65-F5344CB8AC3E}">
        <p14:creationId xmlns:p14="http://schemas.microsoft.com/office/powerpoint/2010/main" val="2647922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20FF-5DE3-94BD-392B-45EF76A96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3FA-31EE-D78C-55A4-B9C163C9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Future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816E-1067-240F-6C17-F5B679D1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Interrogative</a:t>
            </a:r>
          </a:p>
          <a:p>
            <a:r>
              <a:rPr lang="en-US" b="1" dirty="0"/>
              <a:t>Will + subject + base verb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Will</a:t>
            </a:r>
            <a:r>
              <a:rPr lang="en-US" dirty="0"/>
              <a:t> you </a:t>
            </a:r>
            <a:r>
              <a:rPr lang="en-US" b="1" dirty="0"/>
              <a:t>complete</a:t>
            </a:r>
            <a:r>
              <a:rPr lang="en-US" dirty="0"/>
              <a:t> the assignment?</a:t>
            </a:r>
          </a:p>
          <a:p>
            <a:r>
              <a:rPr lang="en-US" b="1" dirty="0"/>
              <a:t>Will</a:t>
            </a:r>
            <a:r>
              <a:rPr lang="en-US" dirty="0"/>
              <a:t> she </a:t>
            </a:r>
            <a:r>
              <a:rPr lang="en-US" b="1" dirty="0"/>
              <a:t>join</a:t>
            </a:r>
            <a:r>
              <a:rPr lang="en-US" dirty="0"/>
              <a:t> the program?</a:t>
            </a:r>
          </a:p>
          <a:p>
            <a:r>
              <a:rPr lang="en-US" b="1" dirty="0"/>
              <a:t>Will</a:t>
            </a:r>
            <a:r>
              <a:rPr lang="en-US" dirty="0"/>
              <a:t> they </a:t>
            </a:r>
            <a:r>
              <a:rPr lang="en-US" b="1" dirty="0"/>
              <a:t>follow</a:t>
            </a:r>
            <a:r>
              <a:rPr lang="en-US" dirty="0"/>
              <a:t> Agile?</a:t>
            </a:r>
          </a:p>
        </p:txBody>
      </p:sp>
    </p:spTree>
    <p:extLst>
      <p:ext uri="{BB962C8B-B14F-4D97-AF65-F5344CB8AC3E}">
        <p14:creationId xmlns:p14="http://schemas.microsoft.com/office/powerpoint/2010/main" val="3704919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EE2C2-6EC8-D696-AC4A-908EACB5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9922-D472-20C3-0516-E69CF8E3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Future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D2651-2BDA-3824-0CC8-8FB77A098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7F0F5D-17A8-AA83-9E12-137093FBA9F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056266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1700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25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will help you.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42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Promise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will submit the report today.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044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 will rain today.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68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Future 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exam will start at 10 am.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115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01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2DC4-983C-59D0-034F-38E6A510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D006-A497-4730-869F-0C9CC624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Future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A7BF-4558-5A85-79B4-14CB959FD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Expressions</a:t>
            </a:r>
          </a:p>
          <a:p>
            <a:r>
              <a:rPr lang="en-US" dirty="0"/>
              <a:t>tomorrow, next week, soon, later, in future</a:t>
            </a:r>
          </a:p>
        </p:txBody>
      </p:sp>
    </p:spTree>
    <p:extLst>
      <p:ext uri="{BB962C8B-B14F-4D97-AF65-F5344CB8AC3E}">
        <p14:creationId xmlns:p14="http://schemas.microsoft.com/office/powerpoint/2010/main" val="156347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4662-114C-B90E-E309-3E30607A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 Continuous Tense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17EB-9A58-2347-B04A-F7A43869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Present Continuous Tense</a:t>
            </a:r>
            <a:r>
              <a:rPr lang="en-US" dirty="0"/>
              <a:t> is used to describe:</a:t>
            </a:r>
          </a:p>
          <a:p>
            <a:r>
              <a:rPr lang="en-US" b="1" dirty="0"/>
              <a:t>fixed plans or arrangements in the near future</a:t>
            </a:r>
            <a:endParaRPr lang="en-US" dirty="0"/>
          </a:p>
          <a:p>
            <a:r>
              <a:rPr lang="en-US" dirty="0"/>
              <a:t> The plan is </a:t>
            </a:r>
            <a:r>
              <a:rPr lang="en-US" b="1" dirty="0"/>
              <a:t>already decided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920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ECF5-770B-B8B9-11FA-7260867D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 Continuous Tense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29C8D-5BCF-F56A-F0F4-365014A33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Structure</a:t>
            </a:r>
          </a:p>
          <a:p>
            <a:r>
              <a:rPr lang="en-US" b="1" dirty="0"/>
              <a:t>Subject + is / am / are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am conducting</a:t>
            </a:r>
            <a:r>
              <a:rPr lang="en-US" dirty="0"/>
              <a:t> a seminar tomorrow.</a:t>
            </a:r>
          </a:p>
          <a:p>
            <a:r>
              <a:rPr lang="en-US" dirty="0"/>
              <a:t>She </a:t>
            </a:r>
            <a:r>
              <a:rPr lang="en-US" b="1" dirty="0"/>
              <a:t>is meeting</a:t>
            </a:r>
            <a:r>
              <a:rPr lang="en-US" dirty="0"/>
              <a:t> the principal today.</a:t>
            </a:r>
          </a:p>
          <a:p>
            <a:r>
              <a:rPr lang="en-US" dirty="0"/>
              <a:t>We </a:t>
            </a:r>
            <a:r>
              <a:rPr lang="en-US" b="1" dirty="0"/>
              <a:t>are visiting</a:t>
            </a:r>
            <a:r>
              <a:rPr lang="en-US" dirty="0"/>
              <a:t> the industry next week.</a:t>
            </a:r>
          </a:p>
          <a:p>
            <a:r>
              <a:rPr lang="en-US" dirty="0"/>
              <a:t>Students </a:t>
            </a:r>
            <a:r>
              <a:rPr lang="en-US" b="1" dirty="0"/>
              <a:t>are submitting</a:t>
            </a:r>
            <a:r>
              <a:rPr lang="en-US" dirty="0"/>
              <a:t> projects on Monday.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604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A63F-2222-D20A-AFA3-835B2DEA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 Continuous Tense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7577-58E5-938B-CC59-236DC3AF9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Expressions</a:t>
            </a:r>
          </a:p>
          <a:p>
            <a:r>
              <a:rPr lang="en-US" dirty="0"/>
              <a:t>today, tonight, tomorrow, this evening, next week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567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1E44-2FEA-3A18-E55A-90264834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 Continuous Tense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9DF3A-8C4E-1656-C847-DFD98C203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 Difference from “will”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DE63BC-DD17-25E7-F52C-3AD760561B6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148978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338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 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94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now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Pre-planned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09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will teach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 am teaching tomorrow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414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846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3E8D-5E48-A693-1574-B13018F0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9EAA-B637-DAB7-8041-C76A3955F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Future Continuous Tense</a:t>
            </a:r>
            <a:r>
              <a:rPr lang="en-US" dirty="0"/>
              <a:t> is used to express:</a:t>
            </a:r>
          </a:p>
          <a:p>
            <a:r>
              <a:rPr lang="en-US" dirty="0"/>
              <a:t>an action that </a:t>
            </a:r>
            <a:r>
              <a:rPr lang="en-US" b="1" dirty="0"/>
              <a:t>will be in progress at a specific time in the future</a:t>
            </a:r>
            <a:endParaRPr lang="en-US" dirty="0"/>
          </a:p>
          <a:p>
            <a:r>
              <a:rPr lang="en-US" dirty="0"/>
              <a:t>polite inquiries about future plans</a:t>
            </a:r>
          </a:p>
          <a:p>
            <a:r>
              <a:rPr lang="en-US" dirty="0"/>
              <a:t>ongoing future activities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507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9A4C-7B2A-6474-650B-038A4739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F126-6C22-C4B5-4B17-572F3FBE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5816-DC75-BD73-95D5-21D218140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Structure</a:t>
            </a:r>
          </a:p>
          <a:p>
            <a:r>
              <a:rPr lang="en-US" b="1" dirty="0"/>
              <a:t> Affirmative</a:t>
            </a:r>
          </a:p>
          <a:p>
            <a:r>
              <a:rPr lang="en-US" b="1" dirty="0"/>
              <a:t>Subject + will be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will be teaching</a:t>
            </a:r>
            <a:r>
              <a:rPr lang="en-US" dirty="0"/>
              <a:t> at 10 am tomorrow.</a:t>
            </a:r>
          </a:p>
          <a:p>
            <a:r>
              <a:rPr lang="en-US" dirty="0"/>
              <a:t>She </a:t>
            </a:r>
            <a:r>
              <a:rPr lang="en-US" b="1" dirty="0"/>
              <a:t>will be preparing</a:t>
            </a:r>
            <a:r>
              <a:rPr lang="en-US" dirty="0"/>
              <a:t> the question paper.</a:t>
            </a:r>
          </a:p>
          <a:p>
            <a:r>
              <a:rPr lang="en-US" dirty="0"/>
              <a:t>They </a:t>
            </a:r>
            <a:r>
              <a:rPr lang="en-US" b="1" dirty="0"/>
              <a:t>will be traveling</a:t>
            </a:r>
            <a:r>
              <a:rPr lang="en-US" dirty="0"/>
              <a:t> next week.</a:t>
            </a:r>
          </a:p>
          <a:p>
            <a:r>
              <a:rPr lang="en-US" dirty="0"/>
              <a:t>Students </a:t>
            </a:r>
            <a:r>
              <a:rPr lang="en-US" b="1" dirty="0"/>
              <a:t>will be writing</a:t>
            </a:r>
            <a:r>
              <a:rPr lang="en-US" dirty="0"/>
              <a:t> the exam at this time tomorrow.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651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7348-763C-2C64-BF30-00B044FA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1104-F77D-FFE0-FBC6-5465F5F5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3C03-5A21-7A8F-7FE2-35AE57259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Interrogative</a:t>
            </a:r>
          </a:p>
          <a:p>
            <a:r>
              <a:rPr lang="en-US" b="1" dirty="0"/>
              <a:t>Will + subject + be + verb + </a:t>
            </a:r>
            <a:r>
              <a:rPr lang="en-US" b="1" dirty="0" err="1"/>
              <a:t>ing</a:t>
            </a:r>
            <a:r>
              <a:rPr lang="en-US" b="1" dirty="0"/>
              <a:t>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Will</a:t>
            </a:r>
            <a:r>
              <a:rPr lang="en-US" dirty="0"/>
              <a:t> you </a:t>
            </a:r>
            <a:r>
              <a:rPr lang="en-US" b="1" dirty="0"/>
              <a:t>be attending</a:t>
            </a:r>
            <a:r>
              <a:rPr lang="en-US" dirty="0"/>
              <a:t> the meeting?</a:t>
            </a:r>
          </a:p>
          <a:p>
            <a:r>
              <a:rPr lang="en-US" b="1" dirty="0"/>
              <a:t>Will</a:t>
            </a:r>
            <a:r>
              <a:rPr lang="en-US" dirty="0"/>
              <a:t> she </a:t>
            </a:r>
            <a:r>
              <a:rPr lang="en-US" b="1" dirty="0"/>
              <a:t>be taking</a:t>
            </a:r>
            <a:r>
              <a:rPr lang="en-US" dirty="0"/>
              <a:t> the lecture tomorrow?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191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5FCD-BF2D-CE2A-4BAF-0F80EA4A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8866-1C3D-B1A9-6C0E-8FFC567F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E40296-2BBB-84A8-CB70-B2E996D4DA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77066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41201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35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 in progress (future time)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will be working at 9 pm.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28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Polite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Will you be using the lab tomorrow?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262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future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While I will be teaching, students will be listening.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20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422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EEA4-79A1-DF4D-2A16-0C390528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EC92-81AB-97D8-DEA6-32651736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DD79-D8C5-8C37-5ECF-E9949784F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Expressions</a:t>
            </a:r>
          </a:p>
          <a:p>
            <a:r>
              <a:rPr lang="en-US" dirty="0"/>
              <a:t>at this time tomorrow, at 10 am tomorrow, next week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607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F10F-2465-4953-8C17-735E12BF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6476-D80B-9382-9A52-9B0A550E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55D25A-4A3B-C5B3-A14E-A19BFA9AC3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233580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56088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68168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348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Future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will explain now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342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 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Planned future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am explaining tomorrow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553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Future 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Ongoing future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 will be explaining at 10 am tomorrow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630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812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86CF-7A60-4298-B471-06558C6D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3F13-C27D-3EA0-19E3-9687AD2E4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</a:t>
            </a:r>
            <a:r>
              <a:rPr lang="en-US" b="1" dirty="0"/>
              <a:t>Future Continuous Tense</a:t>
            </a:r>
            <a:r>
              <a:rPr lang="en-US" dirty="0"/>
              <a:t> is used to describe:</a:t>
            </a:r>
          </a:p>
          <a:p>
            <a:r>
              <a:rPr lang="en-US" dirty="0"/>
              <a:t>an action that </a:t>
            </a:r>
            <a:r>
              <a:rPr lang="en-US" b="1" dirty="0"/>
              <a:t>will be in progress at a specific time in the future</a:t>
            </a:r>
            <a:endParaRPr lang="en-US" dirty="0"/>
          </a:p>
          <a:p>
            <a:r>
              <a:rPr lang="en-US" dirty="0"/>
              <a:t>an activity that </a:t>
            </a:r>
            <a:r>
              <a:rPr lang="en-US" b="1" dirty="0"/>
              <a:t>will be continuing in the future</a:t>
            </a:r>
            <a:endParaRPr lang="en-US" dirty="0"/>
          </a:p>
          <a:p>
            <a:r>
              <a:rPr lang="en-US" b="1" dirty="0"/>
              <a:t>polite or indirect inquiries</a:t>
            </a:r>
            <a:r>
              <a:rPr lang="en-US" dirty="0"/>
              <a:t> about future plans</a:t>
            </a:r>
          </a:p>
          <a:p>
            <a:r>
              <a:rPr lang="en-US" dirty="0"/>
              <a:t> Key idea: </a:t>
            </a:r>
            <a:r>
              <a:rPr lang="en-US" b="1" dirty="0"/>
              <a:t>Action will be going on in the future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362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C87C-9AE8-A3F7-2B7A-E5382B80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D1FE-E173-AF00-6390-8A79EB5A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DB0C1-5746-F45C-302E-C26FDD7D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Structure (Sentence Formation)</a:t>
            </a:r>
          </a:p>
          <a:p>
            <a:r>
              <a:rPr lang="en-US" b="1" dirty="0"/>
              <a:t>Affirmative (Positive)</a:t>
            </a:r>
          </a:p>
          <a:p>
            <a:r>
              <a:rPr lang="en-US" b="1" dirty="0"/>
              <a:t>Subject + will be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will be teaching</a:t>
            </a:r>
            <a:r>
              <a:rPr lang="en-US" dirty="0"/>
              <a:t> at 10 am tomorrow.</a:t>
            </a:r>
          </a:p>
          <a:p>
            <a:r>
              <a:rPr lang="en-US" dirty="0"/>
              <a:t>She </a:t>
            </a:r>
            <a:r>
              <a:rPr lang="en-US" b="1" dirty="0"/>
              <a:t>will be preparing</a:t>
            </a:r>
            <a:r>
              <a:rPr lang="en-US" dirty="0"/>
              <a:t> the question paper.</a:t>
            </a:r>
          </a:p>
          <a:p>
            <a:r>
              <a:rPr lang="en-US" dirty="0"/>
              <a:t>They </a:t>
            </a:r>
            <a:r>
              <a:rPr lang="en-US" b="1" dirty="0"/>
              <a:t>will be working</a:t>
            </a:r>
            <a:r>
              <a:rPr lang="en-US" dirty="0"/>
              <a:t> on the project next week.</a:t>
            </a:r>
          </a:p>
          <a:p>
            <a:r>
              <a:rPr lang="en-US" dirty="0"/>
              <a:t>Students </a:t>
            </a:r>
            <a:r>
              <a:rPr lang="en-US" b="1" dirty="0"/>
              <a:t>will be writing</a:t>
            </a:r>
            <a:r>
              <a:rPr lang="en-US" dirty="0"/>
              <a:t> the exam at this time tomorrow.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720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828C-31D5-11D4-5CB4-90507A46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636C-2E69-AB89-4F88-36F457D2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A2E8-D3E8-52E9-D1CB-C0D233588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</a:t>
            </a:r>
          </a:p>
          <a:p>
            <a:r>
              <a:rPr lang="en-US" b="1" dirty="0"/>
              <a:t>Subject + will not be + verb + </a:t>
            </a:r>
            <a:r>
              <a:rPr lang="en-US" b="1" dirty="0" err="1"/>
              <a:t>ing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 </a:t>
            </a:r>
            <a:r>
              <a:rPr lang="en-US" b="1" dirty="0"/>
              <a:t>will not be attending</a:t>
            </a:r>
            <a:r>
              <a:rPr lang="en-US" dirty="0"/>
              <a:t> the meeting.</a:t>
            </a:r>
          </a:p>
          <a:p>
            <a:r>
              <a:rPr lang="en-US" dirty="0"/>
              <a:t>She </a:t>
            </a:r>
            <a:r>
              <a:rPr lang="en-US" b="1" dirty="0"/>
              <a:t>will not be using</a:t>
            </a:r>
            <a:r>
              <a:rPr lang="en-US" dirty="0"/>
              <a:t> the lab tomorrow.</a:t>
            </a:r>
          </a:p>
          <a:p>
            <a:r>
              <a:rPr lang="en-US" dirty="0"/>
              <a:t>We </a:t>
            </a:r>
            <a:r>
              <a:rPr lang="en-US" b="1" dirty="0"/>
              <a:t>will not be traveling</a:t>
            </a:r>
            <a:r>
              <a:rPr lang="en-US" dirty="0"/>
              <a:t> next week.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647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1D44-4F81-4278-A6B9-C3189829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6393-875F-1A17-D4FF-562FF664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95A3F-B1DC-263B-A568-E95D434B0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Interrogative (Question)</a:t>
            </a:r>
          </a:p>
          <a:p>
            <a:r>
              <a:rPr lang="en-US" b="1" dirty="0"/>
              <a:t>Will + subject + be + verb + </a:t>
            </a:r>
            <a:r>
              <a:rPr lang="en-US" b="1" dirty="0" err="1"/>
              <a:t>ing</a:t>
            </a:r>
            <a:r>
              <a:rPr lang="en-US" b="1" dirty="0"/>
              <a:t>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Will</a:t>
            </a:r>
            <a:r>
              <a:rPr lang="en-US" dirty="0"/>
              <a:t> you </a:t>
            </a:r>
            <a:r>
              <a:rPr lang="en-US" b="1" dirty="0"/>
              <a:t>be conducting</a:t>
            </a:r>
            <a:r>
              <a:rPr lang="en-US" dirty="0"/>
              <a:t> the lecture tomorrow?</a:t>
            </a:r>
          </a:p>
          <a:p>
            <a:r>
              <a:rPr lang="en-US" b="1" dirty="0"/>
              <a:t>Will</a:t>
            </a:r>
            <a:r>
              <a:rPr lang="en-US" dirty="0"/>
              <a:t> she </a:t>
            </a:r>
            <a:r>
              <a:rPr lang="en-US" b="1" dirty="0"/>
              <a:t>be preparing</a:t>
            </a:r>
            <a:r>
              <a:rPr lang="en-US" dirty="0"/>
              <a:t> the PPT today?</a:t>
            </a:r>
          </a:p>
          <a:p>
            <a:r>
              <a:rPr lang="en-US" b="1" dirty="0"/>
              <a:t>Will</a:t>
            </a:r>
            <a:r>
              <a:rPr lang="en-US" dirty="0"/>
              <a:t> they </a:t>
            </a:r>
            <a:r>
              <a:rPr lang="en-US" b="1" dirty="0"/>
              <a:t>be submitting</a:t>
            </a:r>
            <a:r>
              <a:rPr lang="en-US" dirty="0"/>
              <a:t> the project next week?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02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5E44-EBE5-96F0-61F5-58BBB3F8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2E77-74E3-5FC3-B1B0-A329A266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CEB0A-44C6-F7C2-4E53-1A2023359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Wh</a:t>
            </a:r>
            <a:r>
              <a:rPr lang="en-US" b="1" dirty="0"/>
              <a:t>-Questions</a:t>
            </a:r>
          </a:p>
          <a:p>
            <a:r>
              <a:rPr lang="en-US" b="1" dirty="0"/>
              <a:t>Wh-word + will + subject + be + verb + </a:t>
            </a:r>
            <a:r>
              <a:rPr lang="en-US" b="1" dirty="0" err="1"/>
              <a:t>ing</a:t>
            </a:r>
            <a:r>
              <a:rPr lang="en-US" b="1" dirty="0"/>
              <a:t> ?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What</a:t>
            </a:r>
            <a:r>
              <a:rPr lang="en-US" dirty="0"/>
              <a:t> will you </a:t>
            </a:r>
            <a:r>
              <a:rPr lang="en-US" b="1" dirty="0"/>
              <a:t>be doing</a:t>
            </a:r>
            <a:r>
              <a:rPr lang="en-US" dirty="0"/>
              <a:t> at 9 pm?</a:t>
            </a:r>
          </a:p>
          <a:p>
            <a:r>
              <a:rPr lang="en-US" b="1" dirty="0"/>
              <a:t>Where</a:t>
            </a:r>
            <a:r>
              <a:rPr lang="en-US" dirty="0"/>
              <a:t> will they </a:t>
            </a:r>
            <a:r>
              <a:rPr lang="en-US" b="1" dirty="0"/>
              <a:t>be working</a:t>
            </a:r>
            <a:r>
              <a:rPr lang="en-US" dirty="0"/>
              <a:t> tomorrow?</a:t>
            </a:r>
          </a:p>
          <a:p>
            <a:r>
              <a:rPr lang="en-US" b="1" dirty="0"/>
              <a:t>Why</a:t>
            </a:r>
            <a:r>
              <a:rPr lang="en-US" dirty="0"/>
              <a:t> will she </a:t>
            </a:r>
            <a:r>
              <a:rPr lang="en-US" b="1" dirty="0"/>
              <a:t>be missing</a:t>
            </a:r>
            <a:r>
              <a:rPr lang="en-US" dirty="0"/>
              <a:t> the session?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564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4460-DC69-9025-56D9-B0B05202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D49D-57A4-186A-B37A-FF1F97E1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30EDA6-32DC-701A-7CD0-EC335BDE01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967716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9931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8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 in progress at future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will be studying at 8 pm.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093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Ongoing future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She will be staying in Pune next month.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0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Polite inquiry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Will you be using the projector tomorrow?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5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future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While I will be teaching, students will be listening.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905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607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BA07-0670-0F4A-6B4D-72A48EFD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078A-BE5E-EC72-80E6-E6C92299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1536-BB48-1872-4BC4-A46D9F59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Time Expressions</a:t>
            </a:r>
          </a:p>
          <a:p>
            <a:r>
              <a:rPr lang="en-US" dirty="0"/>
              <a:t>at this time tomorrow</a:t>
            </a:r>
          </a:p>
          <a:p>
            <a:r>
              <a:rPr lang="en-US" dirty="0"/>
              <a:t>at 10 am tomorrow</a:t>
            </a:r>
          </a:p>
          <a:p>
            <a:r>
              <a:rPr lang="en-US" dirty="0"/>
              <a:t>next week</a:t>
            </a:r>
          </a:p>
          <a:p>
            <a:r>
              <a:rPr lang="en-US" dirty="0"/>
              <a:t>in the evening tomorrow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Students will be writing the exam </a:t>
            </a:r>
            <a:r>
              <a:rPr lang="en-US" b="1" dirty="0"/>
              <a:t>at this time tomorrow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509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177E-956C-9C53-A84D-0C529349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FFCD-3749-44A3-82BE-F476F9E4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6C31A-71A3-8873-0FB5-DA8176A71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Future </a:t>
            </a:r>
            <a:r>
              <a:rPr lang="fr-FR" dirty="0" err="1"/>
              <a:t>Continuous</a:t>
            </a:r>
            <a:r>
              <a:rPr lang="fr-FR" dirty="0"/>
              <a:t> vs Simple Future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0AE321-6F42-6B61-87E8-B150D475B97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926098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657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Future 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Future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654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 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23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 will be teaching at 10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will teach tomorrow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34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Polite inquiry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Promise /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51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509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FF6E-9349-9262-4545-0169AFC5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F54B-2B89-718C-6A05-293845B8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Continuous 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1BBEE-5206-F135-53DE-83EEA129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Mistakes ❌</a:t>
            </a:r>
          </a:p>
          <a:p>
            <a:r>
              <a:rPr lang="en-US" dirty="0"/>
              <a:t>❌ She </a:t>
            </a:r>
            <a:r>
              <a:rPr lang="en-US" b="1" dirty="0"/>
              <a:t>will be teach</a:t>
            </a:r>
            <a:r>
              <a:rPr lang="en-US" dirty="0"/>
              <a:t> tomorrow.</a:t>
            </a:r>
            <a:br>
              <a:rPr lang="en-US" dirty="0"/>
            </a:br>
            <a:r>
              <a:rPr lang="en-US" dirty="0"/>
              <a:t>✅ She </a:t>
            </a:r>
            <a:r>
              <a:rPr lang="en-US" b="1" dirty="0"/>
              <a:t>will be teaching</a:t>
            </a:r>
            <a:r>
              <a:rPr lang="en-US" dirty="0"/>
              <a:t> tomorrow.</a:t>
            </a:r>
          </a:p>
          <a:p>
            <a:r>
              <a:rPr lang="en-US" dirty="0"/>
              <a:t>❌ Will you be </a:t>
            </a:r>
            <a:r>
              <a:rPr lang="en-US" b="1" dirty="0"/>
              <a:t>use</a:t>
            </a:r>
            <a:r>
              <a:rPr lang="en-US" dirty="0"/>
              <a:t> the lab?</a:t>
            </a:r>
            <a:br>
              <a:rPr lang="en-US" dirty="0"/>
            </a:br>
            <a:r>
              <a:rPr lang="en-US" dirty="0"/>
              <a:t>✅ Will you be </a:t>
            </a:r>
            <a:r>
              <a:rPr lang="en-US" b="1" dirty="0"/>
              <a:t>using</a:t>
            </a:r>
            <a:r>
              <a:rPr lang="en-US" dirty="0"/>
              <a:t> the lab?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53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1839</Words>
  <Application>Microsoft Office PowerPoint</Application>
  <PresentationFormat>Widescreen</PresentationFormat>
  <Paragraphs>359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English Tenses- Part II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Past Continuous Tense (Past Progressive)</vt:lpstr>
      <vt:lpstr> Past Perfect tense</vt:lpstr>
      <vt:lpstr> Past Perfect tense</vt:lpstr>
      <vt:lpstr> Past Perfect tense</vt:lpstr>
      <vt:lpstr> Past Perfect tense</vt:lpstr>
      <vt:lpstr> Past Perfect tense</vt:lpstr>
      <vt:lpstr> Past Perfect tense</vt:lpstr>
      <vt:lpstr> Past Perfect tense</vt:lpstr>
      <vt:lpstr> Past Perfect tense</vt:lpstr>
      <vt:lpstr> Past Perfect tense</vt:lpstr>
      <vt:lpstr> Past Perfect tense</vt:lpstr>
      <vt:lpstr>Simple Future Tense</vt:lpstr>
      <vt:lpstr>Simple Future Tense</vt:lpstr>
      <vt:lpstr>Simple Future Tense</vt:lpstr>
      <vt:lpstr>Simple Future Tense</vt:lpstr>
      <vt:lpstr>Simple Future Tense</vt:lpstr>
      <vt:lpstr>Present Continuous Tense </vt:lpstr>
      <vt:lpstr>Present Continuous Tense </vt:lpstr>
      <vt:lpstr>Present Continuous Tense </vt:lpstr>
      <vt:lpstr>Present Continuous Tense </vt:lpstr>
      <vt:lpstr>Future Continuous Tense</vt:lpstr>
      <vt:lpstr>Future Continuous Tense</vt:lpstr>
      <vt:lpstr>Future Continuous Tense</vt:lpstr>
      <vt:lpstr>Future Continuous Tense</vt:lpstr>
      <vt:lpstr>Future Continuous Tense</vt:lpstr>
      <vt:lpstr>Comparison Table</vt:lpstr>
      <vt:lpstr>Future Continuous tense</vt:lpstr>
      <vt:lpstr>Future Continuous tense</vt:lpstr>
      <vt:lpstr>Future Continuous tense</vt:lpstr>
      <vt:lpstr>Future Continuous tense</vt:lpstr>
      <vt:lpstr>Future Continuous tense</vt:lpstr>
      <vt:lpstr>Future Continuous tense</vt:lpstr>
      <vt:lpstr>Future Continuous tense</vt:lpstr>
      <vt:lpstr>Future Continuous tense</vt:lpstr>
      <vt:lpstr>Future Continuous tense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Geeta Navale</dc:creator>
  <cp:lastModifiedBy>Geeta Navale</cp:lastModifiedBy>
  <cp:revision>2</cp:revision>
  <dcterms:created xsi:type="dcterms:W3CDTF">2026-02-09T07:59:23Z</dcterms:created>
  <dcterms:modified xsi:type="dcterms:W3CDTF">2026-02-11T06:04:48Z</dcterms:modified>
</cp:coreProperties>
</file>